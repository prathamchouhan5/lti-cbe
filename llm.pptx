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80" r:id="rId4"/>
    <p:sldId id="281" r:id="rId5"/>
    <p:sldId id="28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  <p:sldId id="267" r:id="rId16"/>
    <p:sldId id="270" r:id="rId17"/>
    <p:sldId id="277" r:id="rId18"/>
    <p:sldId id="268" r:id="rId19"/>
    <p:sldId id="269" r:id="rId20"/>
    <p:sldId id="271" r:id="rId21"/>
    <p:sldId id="278" r:id="rId22"/>
    <p:sldId id="287" r:id="rId23"/>
    <p:sldId id="288" r:id="rId24"/>
    <p:sldId id="289" r:id="rId25"/>
    <p:sldId id="290" r:id="rId26"/>
    <p:sldId id="291" r:id="rId27"/>
    <p:sldId id="272" r:id="rId28"/>
    <p:sldId id="273" r:id="rId29"/>
    <p:sldId id="274" r:id="rId30"/>
    <p:sldId id="275" r:id="rId31"/>
    <p:sldId id="276" r:id="rId32"/>
    <p:sldId id="284" r:id="rId33"/>
    <p:sldId id="285" r:id="rId34"/>
    <p:sldId id="28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4" y="5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A4668-DD60-F95D-FF78-9560440A0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789AD6-BFDE-3CF7-2E66-BBA61E344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BC33E82-1541-142A-B824-8C63EA20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55DB1C-1697-97B6-D355-D630F492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9F3FD1-79BF-A9BE-8A98-4A0B02EF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7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0E8EE2-12C7-1863-CE1D-D7C974C6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027114-BEAD-26D4-16F6-D9F8CDDEA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F986C2-2E71-BF95-3518-CEEA7F3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FF152C-B626-139B-A60E-EA4BD806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444C13-B583-7F80-B1B4-1B95FB69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1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87BE84-BF77-A6EC-4B1A-079EBA73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373F3B-246D-7553-49EB-EF2BE9C6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CEDBAB-1F85-89A9-C1A5-82B40B50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A4FE5C-FF5E-B82D-C842-5E39141D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88D974-29A5-1CB9-AE38-6E9B33AC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0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825EE7-95B5-62AA-BF0F-CB68162E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A5AFD5-F1BB-8E40-C9B0-52387C988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D0B9608-8A1F-DE8E-F631-55AAE4905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8BA686E-7849-841D-7183-F62AD9CB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B70B29-5933-3194-E2F1-413BD9BD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9642359-39C5-17F3-F41D-6F3B76D9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3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7B2F6C-9A31-A219-0D91-7F22346D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BCBCAED-EFE1-FF33-9854-848CD797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54F4153-A8E4-94B9-0DE7-3C1C745A2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5ED94E5-3C23-6FFB-5B78-51F1F6E1D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E9388CD-BB7F-081F-67A9-38B825012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57F3BEC-437F-1C86-776F-E335FD6B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0BCF600-AD39-070B-C2BD-8D3A55C4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5BC4891-2C90-ADFA-928A-D312B970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86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ACE19A-8C67-F3A6-8DBC-7A2E8C5A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87605A6-5FDD-974D-688D-0042C2DE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88E11A4-C153-D730-754A-A26403F4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2A85F35-51C9-D025-4756-C3F43AFD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FE13A6B-CA8E-6627-9578-30CC5DA8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FB5E4C2-0024-21D0-7534-2335B0B4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A3A6B0-07F8-E387-393C-BFC02940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4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5713A9-E62F-7042-CE62-BDB01D0B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5DF66C-71D0-16EA-C7D8-18CA14EC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A38A27F-E5AA-D188-1D67-A2789D08F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7BE5092-F2B5-BDF6-FAF5-048B7D86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7E210A-6416-F2E9-EB18-AFD36111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74063CB-7BD6-B440-24A3-DA5AD79C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3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89F378-A814-8901-42B4-0FAF4DF2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84F6A55-F010-45AE-A489-5B096467E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34D4930-D0B2-CCAE-1615-3DAA1DBC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4272A01-9284-F83F-F73C-5917FD13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EF43558-A02B-A248-F01B-E8F5C857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0177911-66A7-F832-569A-07208087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9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B86E4C-AF25-E88B-4ACD-D61A070F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8FD2B1C-A8FA-60EB-E9CD-20D334DA4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E59641B-2FBF-5918-3426-6FBF6093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4451F4E-3426-9AA4-74F3-B088514E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03A3141-097A-102D-36A7-8A847BE5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7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7D883F1-8CC8-14F3-0D41-073C8EE2F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1B56543-8172-6AC8-17A9-A4E5DABFF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2D519F-9ADA-8B66-FA38-ECE31A10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8500CA4-9EF9-4D4B-5AAA-A5558D94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B5ED06-BBFE-0E49-D1B0-6177694B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0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E78061-8B61-9394-4B6F-1BAB8D60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3846D8-01C4-C7F3-48D2-F36A05EBE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18FB36F-867F-50B7-D32D-707223996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BDB0B-F328-4B40-800E-CA0F3A172EA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B390CB-ECCD-E7F0-E1AA-547F8A606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29BFD00-D671-B385-AB9E-7288BA7ED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5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DA4A42-BAE2-9D3C-70C8-47CA552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LLM?</a:t>
            </a:r>
          </a:p>
        </p:txBody>
      </p:sp>
      <p:pic>
        <p:nvPicPr>
          <p:cNvPr id="1026" name="Picture 2" descr="Large language models, explained with a minimum of math and jargon">
            <a:extLst>
              <a:ext uri="{FF2B5EF4-FFF2-40B4-BE49-F238E27FC236}">
                <a16:creationId xmlns="" xmlns:a16="http://schemas.microsoft.com/office/drawing/2014/main" id="{38C38F01-F7D7-4271-A40C-30CEDCFA1A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329" y="1825625"/>
            <a:ext cx="81333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79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LLMs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Definition: Scaled transformer models (billions of parameters) for NLP tasks.</a:t>
            </a:r>
          </a:p>
          <a:p>
            <a:r>
              <a:rPr lang="en-IN" sz="1800" dirty="0"/>
              <a:t>Purpose: General-purpose language understanding and generation.</a:t>
            </a:r>
          </a:p>
          <a:p>
            <a:r>
              <a:rPr lang="en-IN" sz="1800" dirty="0"/>
              <a:t>Examples: BERT, GPT, T5, Mistral, </a:t>
            </a:r>
            <a:r>
              <a:rPr lang="en-IN" sz="1800" dirty="0" err="1"/>
              <a:t>DistilBERT</a:t>
            </a:r>
            <a:r>
              <a:rPr lang="en-IN" sz="1800" dirty="0"/>
              <a:t>.</a:t>
            </a:r>
          </a:p>
          <a:p>
            <a:r>
              <a:rPr lang="en-IN" sz="1800" dirty="0"/>
              <a:t>Use Cases:</a:t>
            </a:r>
          </a:p>
          <a:p>
            <a:pPr lvl="1"/>
            <a:r>
              <a:rPr lang="en-IN" sz="1800" dirty="0"/>
              <a:t>BFSI: Chatbots for customer support.</a:t>
            </a:r>
          </a:p>
          <a:p>
            <a:pPr lvl="1"/>
            <a:r>
              <a:rPr lang="en-IN" sz="1800" dirty="0"/>
              <a:t>Healthcare: Q&amp;A for medical queries.</a:t>
            </a:r>
          </a:p>
          <a:p>
            <a:pPr lvl="1"/>
            <a:r>
              <a:rPr lang="en-IN" sz="1800" dirty="0"/>
              <a:t>IT: Automated log analysis.</a:t>
            </a:r>
          </a:p>
          <a:p>
            <a:r>
              <a:rPr lang="en-IN" sz="1800" dirty="0"/>
              <a:t>Relevance: Power modern Gen AI and </a:t>
            </a:r>
            <a:r>
              <a:rPr lang="en-IN" sz="1800" dirty="0" err="1"/>
              <a:t>Agentic</a:t>
            </a:r>
            <a:r>
              <a:rPr lang="en-IN" sz="1800" dirty="0"/>
              <a:t>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49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LLM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Base: Transformers (encoder, decoder, or both).</a:t>
            </a:r>
          </a:p>
          <a:p>
            <a:r>
              <a:rPr lang="en-IN" sz="1800" dirty="0"/>
              <a:t>Components: Multi-head attention, FFNs, positional encoding, normalization.</a:t>
            </a:r>
          </a:p>
          <a:p>
            <a:r>
              <a:rPr lang="en-IN" sz="1800" dirty="0"/>
              <a:t>Scaling: 100M–175B parameters (e.g., GPT-3: 175B).</a:t>
            </a:r>
          </a:p>
          <a:p>
            <a:r>
              <a:rPr lang="en-IN" sz="1800" dirty="0"/>
              <a:t>Training: Pre-training on massive text (e.g., Wikipedia, Common Crawl), fine-tuning for tasks.</a:t>
            </a:r>
          </a:p>
          <a:p>
            <a:r>
              <a:rPr lang="en-IN" sz="1800" dirty="0"/>
              <a:t>Example: GPT-2 generating IT support responses.</a:t>
            </a:r>
          </a:p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44" y="3924121"/>
            <a:ext cx="677227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72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LLM Variants - BERT and </a:t>
            </a:r>
            <a:r>
              <a:rPr lang="en-IN" b="1" dirty="0" err="1"/>
              <a:t>DistilBERT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BERT: Bidirectional, Masked Language Modeling (MLM), classification tasks.</a:t>
            </a:r>
          </a:p>
          <a:p>
            <a:r>
              <a:rPr lang="en-US" sz="1800" dirty="0" err="1"/>
              <a:t>DistilBERT</a:t>
            </a:r>
            <a:r>
              <a:rPr lang="en-US" sz="1800" dirty="0"/>
              <a:t>: Smaller, faster BERT (40% fewer parameters, 60% faster).</a:t>
            </a:r>
          </a:p>
          <a:p>
            <a:r>
              <a:rPr lang="en-US" sz="1800" dirty="0"/>
              <a:t>Example: Sentiment analysis of “This bank is great!” (BFSI).</a:t>
            </a:r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92" y="3025176"/>
            <a:ext cx="7705725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626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LLM Variants - GPT and Mistral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GPT: Decoder-only, autoregressive, text generation.</a:t>
            </a:r>
          </a:p>
          <a:p>
            <a:r>
              <a:rPr lang="en-US" sz="1800" dirty="0"/>
              <a:t>Mistral: Efficient decoder-only (e.g., </a:t>
            </a:r>
            <a:r>
              <a:rPr lang="en-US" sz="1800" dirty="0" err="1"/>
              <a:t>Mixtral</a:t>
            </a:r>
            <a:r>
              <a:rPr lang="en-US" sz="1800" dirty="0"/>
              <a:t> 8x7B), open-source.</a:t>
            </a:r>
          </a:p>
          <a:p>
            <a:r>
              <a:rPr lang="en-US" sz="1800" dirty="0"/>
              <a:t>Example: Generating IT support responses.</a:t>
            </a:r>
          </a:p>
          <a:p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56" y="3429000"/>
            <a:ext cx="684847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03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BBBDBE-744C-5D17-3C6E-2E476B2C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Large Language Model</a:t>
            </a:r>
            <a:r>
              <a:rPr lang="en-US" dirty="0"/>
              <a:t> predicts the </a:t>
            </a:r>
            <a:r>
              <a:rPr lang="en-US" b="1" dirty="0"/>
              <a:t>next word/token</a:t>
            </a:r>
            <a:r>
              <a:rPr lang="en-US" dirty="0"/>
              <a:t> in a sequence</a:t>
            </a:r>
          </a:p>
          <a:p>
            <a:r>
              <a:rPr lang="en-US" dirty="0"/>
              <a:t>It learns:</a:t>
            </a:r>
          </a:p>
          <a:p>
            <a:r>
              <a:rPr lang="en-US" dirty="0"/>
              <a:t>✅ Grammar &amp; sentence structure</a:t>
            </a:r>
            <a:br>
              <a:rPr lang="en-US" dirty="0"/>
            </a:br>
            <a:r>
              <a:rPr lang="en-US" dirty="0"/>
              <a:t>✅ Relationships between words (king ↔ queen)</a:t>
            </a:r>
            <a:br>
              <a:rPr lang="en-US" dirty="0"/>
            </a:br>
            <a:r>
              <a:rPr lang="en-US" dirty="0"/>
              <a:t>✅ World knowledge (Mysuru, India, rulers, etc.)</a:t>
            </a:r>
          </a:p>
          <a:p>
            <a:r>
              <a:rPr lang="en-US" dirty="0"/>
              <a:t>Learned from billions of text examples → forms </a:t>
            </a:r>
            <a:r>
              <a:rPr lang="en-US" b="1" dirty="0"/>
              <a:t>patterns</a:t>
            </a:r>
            <a:r>
              <a:rPr lang="en-US" dirty="0"/>
              <a:t>, not stored facts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93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C70E03-B435-B74C-2AC9-F98A3A0B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you type a prompt?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EB94FD-1152-6A05-9DD5-F3070D92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prompt:</a:t>
            </a:r>
            <a:br>
              <a:rPr lang="en-IN" dirty="0"/>
            </a:br>
            <a:r>
              <a:rPr lang="en-IN" b="1" dirty="0"/>
              <a:t>“Who was the last king of Mysuru?”</a:t>
            </a:r>
            <a:endParaRPr lang="en-IN" dirty="0"/>
          </a:p>
          <a:p>
            <a:r>
              <a:rPr lang="en-IN" dirty="0"/>
              <a:t>LLM pipeline:</a:t>
            </a:r>
          </a:p>
          <a:p>
            <a:pPr marL="0" indent="0">
              <a:buNone/>
            </a:pPr>
            <a:r>
              <a:rPr lang="en-IN" dirty="0" smtClean="0"/>
              <a:t>1 Break </a:t>
            </a:r>
            <a:r>
              <a:rPr lang="en-IN" dirty="0"/>
              <a:t>text into </a:t>
            </a:r>
            <a:r>
              <a:rPr lang="en-IN" b="1" dirty="0"/>
              <a:t>tokens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2 Convert </a:t>
            </a:r>
            <a:r>
              <a:rPr lang="en-IN" dirty="0"/>
              <a:t>tokens → </a:t>
            </a:r>
            <a:r>
              <a:rPr lang="en-IN" b="1" dirty="0"/>
              <a:t>vectors (embeddings)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3 Model </a:t>
            </a:r>
            <a:r>
              <a:rPr lang="en-IN" dirty="0"/>
              <a:t>processes vectors using learned parameters</a:t>
            </a:r>
            <a:br>
              <a:rPr lang="en-IN" dirty="0"/>
            </a:br>
            <a:r>
              <a:rPr lang="en-IN" dirty="0" smtClean="0"/>
              <a:t>4 Predicts </a:t>
            </a:r>
            <a:r>
              <a:rPr lang="en-IN" b="1" dirty="0"/>
              <a:t>next tokens</a:t>
            </a:r>
            <a:r>
              <a:rPr lang="en-IN" dirty="0"/>
              <a:t> → forms final answer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21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D39867-5ACD-9F90-06AA-932A65C4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Token?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="" xmlns:a16="http://schemas.microsoft.com/office/drawing/2014/main" id="{D54DBF66-C43F-6D17-E387-7F557AC40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3159" y="1825625"/>
            <a:ext cx="55707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71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C78B270-9144-E694-2AAF-4A6183919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236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Smallest pieces of text model understands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always full 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Words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Sub-words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Characters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Special symbols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3E6771F-8BA5-B972-52EA-11C8854E1C8A}"/>
              </a:ext>
            </a:extLst>
          </p:cNvPr>
          <p:cNvSpPr txBox="1"/>
          <p:nvPr/>
        </p:nvSpPr>
        <p:spPr>
          <a:xfrm>
            <a:off x="744116" y="1014318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What is a Token?</a:t>
            </a:r>
          </a:p>
        </p:txBody>
      </p:sp>
    </p:spTree>
    <p:extLst>
      <p:ext uri="{BB962C8B-B14F-4D97-AF65-F5344CB8AC3E}">
        <p14:creationId xmlns:p14="http://schemas.microsoft.com/office/powerpoint/2010/main" val="40517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E466EE-4256-DCFD-162F-C88C21EC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Word-Based Tokenization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41F438D9-45D3-96E1-2779-09B3C0BAC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on spaces/punctuation.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Simple, human-readable.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Rare words (e.g.,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") become "unknown" tokens (UNK), handled as [UNK].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"Who was the last king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?" → ["Who", "was", "the", "last", "king", "of",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"?"] </a:t>
            </a:r>
          </a:p>
        </p:txBody>
      </p:sp>
    </p:spTree>
    <p:extLst>
      <p:ext uri="{BB962C8B-B14F-4D97-AF65-F5344CB8AC3E}">
        <p14:creationId xmlns:p14="http://schemas.microsoft.com/office/powerpoint/2010/main" val="61822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B0299C-920E-E024-814D-516E22B6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err="1">
                <a:effectLst/>
              </a:rPr>
              <a:t>Subword</a:t>
            </a:r>
            <a:r>
              <a:rPr lang="en-US" dirty="0">
                <a:effectLst/>
              </a:rPr>
              <a:t> Tokenization (e.g., Byte-Pair Encoding – BPE)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74ED83D3-F153-AB07-F7B2-BE4BBBE0F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Merges frequent character pairs into subwords (e.g., "ing" or "un").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Handles rare words by breaking them (e.g., "Mysuru" → "Mys" + "uru"); smaller vocab.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Less intuitive splits.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 Start with characters, iteratively merge common pairs (e.g., "t" + "h" → "th"). </a:t>
            </a:r>
          </a:p>
        </p:txBody>
      </p:sp>
    </p:spTree>
    <p:extLst>
      <p:ext uri="{BB962C8B-B14F-4D97-AF65-F5344CB8AC3E}">
        <p14:creationId xmlns:p14="http://schemas.microsoft.com/office/powerpoint/2010/main" val="152639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464E36-70A8-EC2C-404A-41ED2ABC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subwords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57D13E7-3303-F5BC-5EDE-C845E07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✔ Reduces vocabulary size</a:t>
            </a:r>
            <a:br>
              <a:rPr lang="en-US" dirty="0"/>
            </a:br>
            <a:r>
              <a:rPr lang="en-US" dirty="0"/>
              <a:t>✔ Handles rare/new words like “Mysuru” better</a:t>
            </a:r>
            <a:br>
              <a:rPr lang="en-US" dirty="0"/>
            </a:br>
            <a:r>
              <a:rPr lang="en-US" dirty="0"/>
              <a:t>✔ Efficient training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0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838704-D1B0-AD24-6566-E0037FBB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Character-Based Tokenization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4F43A7B1-1456-905B-8DEC-97FD683AA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into single characters.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Tiny vocab (~100 tokens); no unknown words.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Long sequences (e.g., sentence needs 50+ tokens); slower processing. </a:t>
            </a:r>
          </a:p>
        </p:txBody>
      </p:sp>
    </p:spTree>
    <p:extLst>
      <p:ext uri="{BB962C8B-B14F-4D97-AF65-F5344CB8AC3E}">
        <p14:creationId xmlns:p14="http://schemas.microsoft.com/office/powerpoint/2010/main" val="138607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0C5710-0DD8-D492-788A-17D55511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 Techniques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D1B5614D-F815-5F70-E4CF-5CCB536364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="" xmlns:a16="http://schemas.microsoft.com/office/drawing/2014/main" val="4014706021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4289513355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956751643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2886025901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1476219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it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27479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Word-level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Fails on rare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Old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4754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Character-level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Every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anything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long sequences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3206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BPE (Byte Pair Encoding)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Frequent chunks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Sometimes weird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GPT-2, Llama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642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WordPiece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Subword optimized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 for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vocabulary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6640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SentencePiece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Unicode-level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GPT-3, </a:t>
                      </a:r>
                      <a:r>
                        <a:rPr lang="en-IN" dirty="0" err="1"/>
                        <a:t>PaLM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905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89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CACBFE-2D4B-BB8E-C92B-88739E01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Differences Table: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8B221634-B3FF-EA35-9372-430B51D47E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95454"/>
          <a:ext cx="1051560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="" xmlns:a16="http://schemas.microsoft.com/office/drawing/2014/main" val="3083519303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2951852606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2349661727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1043298487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2324611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Vocab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Rare Words?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Split for "Mysuru"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07230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(uses UNK)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["Mysuru"]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9080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Subword (BPE)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(subparts)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["Mys", "uru"]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92360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["M", "y", "s", "u", "r", "u"]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80691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55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59A491-897D-50E5-22B7-1EE7B100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Embeddings: From Words to Vectors</a:t>
            </a:r>
            <a:br>
              <a:rPr lang="en-US" dirty="0">
                <a:effectLst/>
              </a:rPr>
            </a:br>
            <a:endParaRPr lang="en-IN" dirty="0"/>
          </a:p>
        </p:txBody>
      </p:sp>
      <p:pic>
        <p:nvPicPr>
          <p:cNvPr id="9218" name="Picture 2" descr="The classical king + woman − man ≈ queen example of neural word... |  Download Scientific Diagram">
            <a:extLst>
              <a:ext uri="{FF2B5EF4-FFF2-40B4-BE49-F238E27FC236}">
                <a16:creationId xmlns="" xmlns:a16="http://schemas.microsoft.com/office/drawing/2014/main" id="{B3AD4606-A8E5-7F9D-21F9-BA0F6D17C9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2301081"/>
            <a:ext cx="69913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8FC5D5-FB5A-AC77-F9C1-544B01F85FD9}"/>
              </a:ext>
            </a:extLst>
          </p:cNvPr>
          <p:cNvSpPr txBox="1"/>
          <p:nvPr/>
        </p:nvSpPr>
        <p:spPr>
          <a:xfrm>
            <a:off x="958721" y="1377751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Example semantic relation:</a:t>
            </a:r>
            <a:br>
              <a:rPr lang="en-US" dirty="0"/>
            </a:br>
            <a:r>
              <a:rPr lang="en-US" b="1" dirty="0"/>
              <a:t>queen — king = woman — man</a:t>
            </a:r>
            <a:endParaRPr lang="en-US" dirty="0"/>
          </a:p>
          <a:p>
            <a:pPr>
              <a:buNone/>
            </a:pPr>
            <a:r>
              <a:rPr lang="en-US" dirty="0"/>
              <a:t>Embeddings give </a:t>
            </a:r>
            <a:r>
              <a:rPr lang="en-US" b="1" dirty="0"/>
              <a:t>meaning</a:t>
            </a:r>
            <a:r>
              <a:rPr lang="en-US" dirty="0"/>
              <a:t>, not just spelling</a:t>
            </a:r>
          </a:p>
        </p:txBody>
      </p:sp>
    </p:spTree>
    <p:extLst>
      <p:ext uri="{BB962C8B-B14F-4D97-AF65-F5344CB8AC3E}">
        <p14:creationId xmlns:p14="http://schemas.microsoft.com/office/powerpoint/2010/main" val="61270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180758"/>
            <a:ext cx="8513064" cy="6352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6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DC75BB-02D5-00CB-A1D4-2B9BF94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Embeddings: From Words to Vectors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FDB62A-98DC-82DC-F47C-0F7008A3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What Are Embeddings? Numerical representations of tokens – high-dimensional vectors (e.g., 768 numbers) capturing meaning.</a:t>
            </a:r>
          </a:p>
          <a:p>
            <a:endParaRPr lang="en-IN" dirty="0"/>
          </a:p>
          <a:p>
            <a:r>
              <a:rPr lang="en-US" dirty="0">
                <a:effectLst/>
              </a:rPr>
              <a:t>How Learned: During training on huge datasets, model adjusts vectors so similar words are "close" in space.</a:t>
            </a:r>
          </a:p>
          <a:p>
            <a:endParaRPr lang="en-IN" dirty="0"/>
          </a:p>
          <a:p>
            <a:r>
              <a:rPr lang="en-US" dirty="0">
                <a:effectLst/>
              </a:rPr>
              <a:t>Vocabulary Example: Model trained on 50,000 unique tokens. "King" stored as: [0.23, -0.45, 1.12, ..., 0.67] (a 768-float vector).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Analogy: Like coordinates on a map – "king" at (5, 3), "queen" nearby at (5.1, 2.9) because they're related.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Process: Token ID → Lookup embedding table → Vector ready for math in the model.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7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76B5EA-4E88-62E7-3425-0207AE3A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the model “learned”?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1CCB995-CEEE-8035-93C0-8DFD777D8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LLMs learn </a:t>
            </a:r>
            <a:r>
              <a:rPr lang="en-IN" b="1" dirty="0"/>
              <a:t>statistical relationships</a:t>
            </a:r>
            <a:r>
              <a:rPr lang="en-IN" dirty="0"/>
              <a:t> from massive text corpus: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“king” → royalty, ruler, historical context</a:t>
            </a:r>
            <a:br>
              <a:rPr lang="en-IN" dirty="0"/>
            </a:br>
            <a:r>
              <a:rPr lang="en-IN" dirty="0"/>
              <a:t>“Mysuru” → city in Karnataka, Wodeyar dynasty</a:t>
            </a:r>
          </a:p>
          <a:p>
            <a:r>
              <a:rPr lang="en-IN" dirty="0"/>
              <a:t>So when prompt says:</a:t>
            </a:r>
            <a:br>
              <a:rPr lang="en-IN" dirty="0"/>
            </a:br>
            <a:r>
              <a:rPr lang="en-IN" dirty="0"/>
              <a:t>→ “last king of Mysuru”</a:t>
            </a:r>
            <a:br>
              <a:rPr lang="en-IN" dirty="0"/>
            </a:br>
            <a:r>
              <a:rPr lang="en-IN" dirty="0"/>
              <a:t>Model connects </a:t>
            </a:r>
            <a:r>
              <a:rPr lang="en-IN" b="1" dirty="0"/>
              <a:t>king</a:t>
            </a:r>
            <a:r>
              <a:rPr lang="en-IN" dirty="0"/>
              <a:t> + </a:t>
            </a:r>
            <a:r>
              <a:rPr lang="en-IN" b="1" dirty="0"/>
              <a:t>Mysuru</a:t>
            </a:r>
            <a:r>
              <a:rPr lang="en-IN" dirty="0"/>
              <a:t> via </a:t>
            </a:r>
            <a:r>
              <a:rPr lang="en-IN" b="1" dirty="0"/>
              <a:t>embeddings + learned knowledge</a:t>
            </a:r>
            <a:endParaRPr lang="en-IN" dirty="0"/>
          </a:p>
          <a:p>
            <a:r>
              <a:rPr lang="en-IN" dirty="0"/>
              <a:t>⚠️ It does </a:t>
            </a:r>
            <a:r>
              <a:rPr lang="en-IN" b="1" dirty="0"/>
              <a:t>not</a:t>
            </a:r>
            <a:r>
              <a:rPr lang="en-IN" dirty="0"/>
              <a:t> copy from database — it </a:t>
            </a:r>
            <a:r>
              <a:rPr lang="en-IN" b="1" dirty="0"/>
              <a:t>predicts based on patterns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62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28AB56-D64E-523F-0108-596FA4C7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The Model's "Brain" – Parameters and Processing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7CB557-1F44-F569-4B2C-FEC1C027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Parameters = </a:t>
            </a:r>
            <a:r>
              <a:rPr lang="en-IN" b="1" dirty="0"/>
              <a:t>weights</a:t>
            </a:r>
            <a:r>
              <a:rPr lang="en-IN" dirty="0"/>
              <a:t> inside neural network</a:t>
            </a:r>
          </a:p>
          <a:p>
            <a:r>
              <a:rPr lang="en-IN" dirty="0"/>
              <a:t>Represent </a:t>
            </a:r>
            <a:r>
              <a:rPr lang="en-IN" b="1" dirty="0"/>
              <a:t>model memory + knowledge</a:t>
            </a:r>
            <a:endParaRPr lang="en-IN" dirty="0"/>
          </a:p>
          <a:p>
            <a:r>
              <a:rPr lang="en-IN" dirty="0"/>
              <a:t>Example sizes:</a:t>
            </a:r>
            <a:br>
              <a:rPr lang="en-IN" dirty="0"/>
            </a:br>
            <a:r>
              <a:rPr lang="en-IN" i="1" dirty="0"/>
              <a:t>GPT-3: 175B</a:t>
            </a:r>
            <a:r>
              <a:rPr lang="en-IN" dirty="0"/>
              <a:t> | </a:t>
            </a:r>
            <a:r>
              <a:rPr lang="en-IN" i="1" dirty="0"/>
              <a:t>Llama2: 70B</a:t>
            </a:r>
            <a:endParaRPr lang="en-IN" dirty="0"/>
          </a:p>
          <a:p>
            <a:r>
              <a:rPr lang="en-IN" dirty="0"/>
              <a:t>Bigger parameters →</a:t>
            </a:r>
            <a:br>
              <a:rPr lang="en-IN" dirty="0"/>
            </a:br>
            <a:r>
              <a:rPr lang="en-IN" dirty="0"/>
              <a:t>✔ Better understanding</a:t>
            </a:r>
            <a:br>
              <a:rPr lang="en-IN" dirty="0"/>
            </a:br>
            <a:r>
              <a:rPr lang="en-IN" dirty="0"/>
              <a:t>✔ More knowledge</a:t>
            </a:r>
            <a:br>
              <a:rPr lang="en-IN" dirty="0"/>
            </a:br>
            <a:r>
              <a:rPr lang="en-IN" dirty="0"/>
              <a:t>✘ More compute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04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50" y="1344041"/>
            <a:ext cx="519638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230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Attention Mechanisms and Transformers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Attention Mechanisms - The Spotlight of A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Objective</a:t>
            </a:r>
            <a:r>
              <a:rPr lang="en-US" sz="1800" dirty="0"/>
              <a:t>: Understand how attention powers transformers.</a:t>
            </a:r>
          </a:p>
          <a:p>
            <a:r>
              <a:rPr lang="en-US" sz="1800" b="1" dirty="0"/>
              <a:t>What is Attention?</a:t>
            </a:r>
            <a:r>
              <a:rPr lang="en-US" sz="1800" dirty="0"/>
              <a:t>: Like a spotlight, it focuses on important words in a sentence for better context (e.g., “loan” in “Bank offers loan”).</a:t>
            </a:r>
          </a:p>
          <a:p>
            <a:r>
              <a:rPr lang="en-US" sz="1800" b="1" dirty="0"/>
              <a:t>Types</a:t>
            </a:r>
            <a:r>
              <a:rPr lang="en-US" sz="1800" dirty="0"/>
              <a:t>:</a:t>
            </a:r>
          </a:p>
          <a:p>
            <a:pPr lvl="1"/>
            <a:r>
              <a:rPr lang="en-US" sz="1800" b="1" dirty="0"/>
              <a:t>Additive</a:t>
            </a:r>
            <a:r>
              <a:rPr lang="en-US" sz="1800" dirty="0"/>
              <a:t>: Adds weights to score importance (older, less common).</a:t>
            </a:r>
          </a:p>
          <a:p>
            <a:pPr lvl="1"/>
            <a:r>
              <a:rPr lang="en-US" sz="1800" b="1" dirty="0"/>
              <a:t>Multiplicative</a:t>
            </a:r>
            <a:r>
              <a:rPr lang="en-US" sz="1800" dirty="0"/>
              <a:t>: Uses dot products for efficiency.</a:t>
            </a:r>
          </a:p>
          <a:p>
            <a:pPr lvl="1"/>
            <a:r>
              <a:rPr lang="en-US" sz="1800" b="1" dirty="0"/>
              <a:t>Scaled Dot-Product</a:t>
            </a:r>
            <a:r>
              <a:rPr lang="en-US" sz="1800" dirty="0"/>
              <a:t>: Balances large vectors (used in transformers).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04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How It Works</a:t>
            </a:r>
            <a:r>
              <a:rPr lang="en-IN" sz="3200" dirty="0"/>
              <a:t>: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1"/>
            <a:r>
              <a:rPr lang="en-IN" sz="1800" dirty="0"/>
              <a:t>Queries (Q), Keys (K), Values (V) compute weights.</a:t>
            </a:r>
          </a:p>
          <a:p>
            <a:pPr lvl="1"/>
            <a:r>
              <a:rPr lang="en-IN" sz="1800" dirty="0"/>
              <a:t>Formula: Attention(Q, K, V) = </a:t>
            </a:r>
            <a:r>
              <a:rPr lang="en-IN" sz="1800" dirty="0" err="1"/>
              <a:t>softmax</a:t>
            </a:r>
            <a:r>
              <a:rPr lang="en-IN" sz="1800" dirty="0"/>
              <a:t>(QK^T / </a:t>
            </a:r>
            <a:r>
              <a:rPr lang="en-IN" sz="1800" dirty="0" err="1"/>
              <a:t>sqrt</a:t>
            </a:r>
            <a:r>
              <a:rPr lang="en-IN" sz="1800" dirty="0"/>
              <a:t>(</a:t>
            </a:r>
            <a:r>
              <a:rPr lang="en-IN" sz="1800" dirty="0" err="1"/>
              <a:t>d_k</a:t>
            </a:r>
            <a:r>
              <a:rPr lang="en-IN" sz="1800" dirty="0"/>
              <a:t>))V.</a:t>
            </a:r>
          </a:p>
          <a:p>
            <a:pPr lvl="1"/>
            <a:r>
              <a:rPr lang="en-IN" sz="1800" dirty="0"/>
              <a:t>Example: In “HDFC Bank offers loan,” “loan” gets high weight for sentiment.</a:t>
            </a:r>
          </a:p>
          <a:p>
            <a:endParaRPr lang="en-IN" sz="1800" b="1" dirty="0" smtClean="0"/>
          </a:p>
          <a:p>
            <a:r>
              <a:rPr lang="en-IN" sz="1800" b="1" dirty="0" smtClean="0"/>
              <a:t>Use </a:t>
            </a:r>
            <a:r>
              <a:rPr lang="en-IN" sz="1800" b="1" dirty="0"/>
              <a:t>Case</a:t>
            </a:r>
            <a:r>
              <a:rPr lang="en-IN" sz="1800" dirty="0"/>
              <a:t>: BFSI (sentiment analysis), Healthcare (Q&amp;A), IT (log analysis).</a:t>
            </a:r>
          </a:p>
          <a:p>
            <a:r>
              <a:rPr lang="en-IN" sz="1800" b="1" dirty="0"/>
              <a:t>Visual</a:t>
            </a:r>
            <a:r>
              <a:rPr lang="en-IN" sz="1800" dirty="0"/>
              <a:t>: Attention </a:t>
            </a:r>
            <a:r>
              <a:rPr lang="en-IN" sz="1800" dirty="0" err="1"/>
              <a:t>heatmap</a:t>
            </a:r>
            <a:r>
              <a:rPr lang="en-IN" sz="1800" dirty="0"/>
              <a:t> for “HDFC Bank offers loan.”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10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Transformer Architecture - The LLM Backbone</a:t>
            </a:r>
            <a:br>
              <a:rPr lang="en-US" sz="3200" b="1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What is a Transformer?</a:t>
            </a:r>
            <a:r>
              <a:rPr lang="en-IN" sz="1800" dirty="0"/>
              <a:t>: A neural network using attention to process text, replacing slow RNNs with parallel speed.</a:t>
            </a:r>
          </a:p>
          <a:p>
            <a:r>
              <a:rPr lang="en-IN" sz="1800" b="1" dirty="0"/>
              <a:t>Components</a:t>
            </a:r>
            <a:r>
              <a:rPr lang="en-IN" sz="1800" dirty="0"/>
              <a:t>:</a:t>
            </a:r>
          </a:p>
          <a:p>
            <a:pPr lvl="1"/>
            <a:r>
              <a:rPr lang="en-IN" sz="1800" b="1" dirty="0"/>
              <a:t>Encoder</a:t>
            </a:r>
            <a:r>
              <a:rPr lang="en-IN" sz="1800" dirty="0"/>
              <a:t>: Reads input (e.g., BFSI contract).</a:t>
            </a:r>
          </a:p>
          <a:p>
            <a:pPr lvl="1"/>
            <a:r>
              <a:rPr lang="en-IN" sz="1800" b="1" dirty="0"/>
              <a:t>Decoder</a:t>
            </a:r>
            <a:r>
              <a:rPr lang="en-IN" sz="1800" dirty="0"/>
              <a:t>: Generates output (e.g., IT support response).</a:t>
            </a:r>
          </a:p>
          <a:p>
            <a:pPr lvl="1"/>
            <a:r>
              <a:rPr lang="en-IN" sz="1800" b="1" dirty="0"/>
              <a:t>Attention</a:t>
            </a:r>
            <a:r>
              <a:rPr lang="en-IN" sz="1800" dirty="0"/>
              <a:t>: Links words for context.</a:t>
            </a:r>
          </a:p>
          <a:p>
            <a:pPr lvl="1"/>
            <a:r>
              <a:rPr lang="en-IN" sz="1800" b="1" dirty="0"/>
              <a:t>Feed-Forward</a:t>
            </a:r>
            <a:r>
              <a:rPr lang="en-IN" sz="1800" dirty="0"/>
              <a:t>: Adds reasoning layers.</a:t>
            </a:r>
          </a:p>
          <a:p>
            <a:pPr lvl="1"/>
            <a:r>
              <a:rPr lang="en-IN" sz="1800" b="1" dirty="0"/>
              <a:t>Positional Encoding</a:t>
            </a:r>
            <a:r>
              <a:rPr lang="en-IN" sz="1800" dirty="0"/>
              <a:t>: Tracks word order.</a:t>
            </a:r>
          </a:p>
          <a:p>
            <a:r>
              <a:rPr lang="en-IN" sz="1800" b="1" dirty="0"/>
              <a:t>Use Case</a:t>
            </a:r>
            <a:r>
              <a:rPr lang="en-IN" sz="1800" dirty="0"/>
              <a:t>: BFSI (contract translation), Healthcare (report summarization), IT (</a:t>
            </a:r>
            <a:r>
              <a:rPr lang="en-IN" sz="1800" dirty="0" err="1"/>
              <a:t>chatbots</a:t>
            </a:r>
            <a:r>
              <a:rPr lang="en-IN" sz="1800" dirty="0"/>
              <a:t>).</a:t>
            </a:r>
          </a:p>
          <a:p>
            <a:r>
              <a:rPr lang="en-IN" sz="1800" b="1" dirty="0"/>
              <a:t>Visual</a:t>
            </a:r>
            <a:r>
              <a:rPr lang="en-IN" sz="1800" dirty="0"/>
              <a:t>: Encoder-decoder diagram; trace “Bank offers loan” 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22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Self-Attention &amp; Multi-Head Attention - Deep Dive</a:t>
            </a:r>
            <a:r>
              <a:rPr lang="en-US" sz="3600" b="1" dirty="0"/>
              <a:t/>
            </a:r>
            <a:br>
              <a:rPr lang="en-US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Self-Attention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Each word “looks” at all words (e.g., “Bank” attends to “loan”).</a:t>
            </a:r>
          </a:p>
          <a:p>
            <a:pPr lvl="1"/>
            <a:r>
              <a:rPr lang="en-US" sz="1800" dirty="0"/>
              <a:t>Computes weights to focus on relevant words.</a:t>
            </a:r>
          </a:p>
          <a:p>
            <a:pPr lvl="1"/>
            <a:r>
              <a:rPr lang="en-US" sz="1800" dirty="0"/>
              <a:t>Example: In “Patient has diabetes,” “diabetes” links to “has.”</a:t>
            </a:r>
          </a:p>
          <a:p>
            <a:r>
              <a:rPr lang="en-US" sz="1800" b="1" dirty="0"/>
              <a:t>Multi-Head Attention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Runs attention multiple times (e.g., 8 heads) for diverse patterns.</a:t>
            </a:r>
          </a:p>
          <a:p>
            <a:pPr lvl="1"/>
            <a:r>
              <a:rPr lang="en-US" sz="1800" dirty="0"/>
              <a:t>Captures relationships (e.g., “Bank” to “loan” and “offers”).</a:t>
            </a:r>
          </a:p>
          <a:p>
            <a:r>
              <a:rPr lang="en-US" sz="1800" b="1" dirty="0"/>
              <a:t>Use Case</a:t>
            </a:r>
            <a:r>
              <a:rPr lang="en-US" sz="1800" dirty="0"/>
              <a:t>: BFSI (sentiment), Healthcare (diagnostics), IT (log triage).</a:t>
            </a:r>
          </a:p>
          <a:p>
            <a:r>
              <a:rPr lang="en-US" sz="1800" b="1" dirty="0"/>
              <a:t>Visual</a:t>
            </a:r>
            <a:r>
              <a:rPr lang="en-US" sz="1800" dirty="0"/>
              <a:t>: Self-attention matrix; multi-head split diagram.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90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Full Architecture</a:t>
            </a:r>
            <a:r>
              <a:rPr lang="en-IN" sz="3200" dirty="0"/>
              <a:t>: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 smtClean="0"/>
              <a:t>Stack </a:t>
            </a:r>
            <a:r>
              <a:rPr lang="en-IN" sz="1800" dirty="0"/>
              <a:t>encoders/decoders (e.g., 6 layers each).</a:t>
            </a:r>
          </a:p>
          <a:p>
            <a:r>
              <a:rPr lang="en-IN" sz="1800" dirty="0"/>
              <a:t>Add normalization (stabilizes training).</a:t>
            </a:r>
          </a:p>
          <a:p>
            <a:r>
              <a:rPr lang="en-IN" sz="1800" dirty="0"/>
              <a:t>Use positional encoding for sequence order.</a:t>
            </a:r>
          </a:p>
          <a:p>
            <a:r>
              <a:rPr lang="en-IN" sz="1800" dirty="0"/>
              <a:t>Output via </a:t>
            </a:r>
            <a:r>
              <a:rPr lang="en-IN" sz="1800" dirty="0" err="1"/>
              <a:t>softmax</a:t>
            </a:r>
            <a:r>
              <a:rPr lang="en-IN" sz="1800" dirty="0"/>
              <a:t> for text generation.</a:t>
            </a:r>
          </a:p>
          <a:p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22" y="3843966"/>
            <a:ext cx="9867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993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E7DC7D-99B6-BA29-77FF-0462C155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Transformer Architecture (Simplified)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2E7C5839-8E3F-33DB-C100-E7311DD04C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Attention: Focuses on relevant tokens (e.g., "king" attends to "last" and "Mysuru").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Layers: Stack of math ops on embeddings to predict next token. </a:t>
            </a:r>
          </a:p>
        </p:txBody>
      </p:sp>
    </p:spTree>
    <p:extLst>
      <p:ext uri="{BB962C8B-B14F-4D97-AF65-F5344CB8AC3E}">
        <p14:creationId xmlns:p14="http://schemas.microsoft.com/office/powerpoint/2010/main" val="113090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A7DABC-6F11-D6E7-8750-419DC97F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 &amp; Context Window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1F886D59-4166-0EFE-4F9F-FDE3CA016B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="" xmlns:a16="http://schemas.microsoft.com/office/drawing/2014/main" val="3168927390"/>
                    </a:ext>
                  </a:extLst>
                </a:gridCol>
                <a:gridCol w="5257800">
                  <a:extLst>
                    <a:ext uri="{9D8B030D-6E8A-4147-A177-3AD203B41FA5}">
                      <a16:colId xmlns="" xmlns:a16="http://schemas.microsoft.com/office/drawing/2014/main" val="2914160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6811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2K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954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to 128K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4056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 3 Opus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200K+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3115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58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2E01B7-0EFB-1C75-B415-C87C3A95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Full Pipeline Example – From Prompt to Answer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ED5984-DCB7-4006-B463-0A70863D4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Prompt:</a:t>
            </a:r>
            <a:r>
              <a:rPr lang="en-US" dirty="0"/>
              <a:t> "Who was the last king of Mysuru?" </a:t>
            </a:r>
            <a:r>
              <a:rPr lang="en-US" b="1" dirty="0"/>
              <a:t>Tokenize (BPE):</a:t>
            </a:r>
            <a:r>
              <a:rPr lang="en-US" dirty="0"/>
              <a:t> ["Who", " was", " the", " last", " king", " of", " Mys", "</a:t>
            </a:r>
            <a:r>
              <a:rPr lang="en-US" dirty="0" err="1"/>
              <a:t>uru</a:t>
            </a:r>
            <a:r>
              <a:rPr lang="en-US" dirty="0"/>
              <a:t>", "?"]</a:t>
            </a:r>
          </a:p>
          <a:p>
            <a:r>
              <a:rPr lang="en-US" b="1" dirty="0"/>
              <a:t>Embed:</a:t>
            </a:r>
            <a:r>
              <a:rPr lang="en-US" dirty="0"/>
              <a:t> Each → Vector (e.g., "king" = [0.23, -0.45, ...])</a:t>
            </a:r>
          </a:p>
          <a:p>
            <a:r>
              <a:rPr lang="en-US" b="1" dirty="0"/>
              <a:t>Process:</a:t>
            </a:r>
            <a:r>
              <a:rPr lang="en-US" dirty="0"/>
              <a:t> Model uses params to link "last king Mysuru" → Historical pattern match.</a:t>
            </a:r>
          </a:p>
          <a:p>
            <a:r>
              <a:rPr lang="en-US" b="1" dirty="0"/>
              <a:t>Generate:</a:t>
            </a:r>
            <a:r>
              <a:rPr lang="en-US" dirty="0"/>
              <a:t> Predicts tokens: "The", " last", " king", " of", " Mysuru", " was", " Krishnaraja", " Wadiyar", " IV", "." (Within context window).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30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FD703-907B-B67D-311F-D5DC5B00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Probability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C2B0DF55-33DC-6E5B-7B2F-480D64D706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="" xmlns:a16="http://schemas.microsoft.com/office/drawing/2014/main" val="3377202272"/>
                    </a:ext>
                  </a:extLst>
                </a:gridCol>
                <a:gridCol w="5257800">
                  <a:extLst>
                    <a:ext uri="{9D8B030D-6E8A-4147-A177-3AD203B41FA5}">
                      <a16:colId xmlns="" xmlns:a16="http://schemas.microsoft.com/office/drawing/2014/main" val="974549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2266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Jayachamarajendra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6712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Wadiyar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0419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4939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Fake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&lt;0.02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2774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3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48CED9-3EF3-C6B8-0E53-631E14D5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LLMs sometimes hallucinate?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9F185F-92A4-C2D3-03EE-CCA7B9F0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direct access to live facts (unless using RAG)</a:t>
            </a:r>
          </a:p>
          <a:p>
            <a:r>
              <a:rPr lang="en-US" dirty="0"/>
              <a:t>If training data is incomplete → model “fills gaps”</a:t>
            </a:r>
          </a:p>
          <a:p>
            <a:r>
              <a:rPr lang="en-US" b="1" dirty="0"/>
              <a:t>Prediction ≠ Truth</a:t>
            </a:r>
            <a:endParaRPr lang="en-US" dirty="0"/>
          </a:p>
          <a:p>
            <a:r>
              <a:rPr lang="en-US" dirty="0"/>
              <a:t>Fix:</a:t>
            </a:r>
            <a:br>
              <a:rPr lang="en-US" dirty="0"/>
            </a:br>
            <a:r>
              <a:rPr lang="en-US" dirty="0"/>
              <a:t>✅ Retrieval-Augmented Generation (RAG)</a:t>
            </a:r>
            <a:br>
              <a:rPr lang="en-US" dirty="0"/>
            </a:br>
            <a:r>
              <a:rPr lang="en-US" dirty="0"/>
              <a:t>✅ Guardrails</a:t>
            </a:r>
            <a:br>
              <a:rPr lang="en-US" dirty="0"/>
            </a:br>
            <a:r>
              <a:rPr lang="en-US" dirty="0"/>
              <a:t>✅ Human review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9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Tokenization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Byte Pair Encoding (BPE</a:t>
            </a:r>
            <a:r>
              <a:rPr lang="en-IN" dirty="0" smtClean="0"/>
              <a:t>)</a:t>
            </a:r>
          </a:p>
          <a:p>
            <a:endParaRPr lang="en-US" dirty="0"/>
          </a:p>
          <a:p>
            <a:r>
              <a:rPr lang="en-US" b="1" dirty="0"/>
              <a:t>Used by:</a:t>
            </a:r>
            <a:r>
              <a:rPr lang="en-US" dirty="0"/>
              <a:t> GPT-2, GPT-3, GPT-4 (variant of BPE)</a:t>
            </a:r>
          </a:p>
          <a:p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dirty="0"/>
              <a:t>Starts with individual characters.</a:t>
            </a:r>
          </a:p>
          <a:p>
            <a:pPr lvl="1"/>
            <a:r>
              <a:rPr lang="en-US" dirty="0"/>
              <a:t>Iteratively merges the most frequent </a:t>
            </a:r>
            <a:r>
              <a:rPr lang="en-US" b="1" dirty="0"/>
              <a:t>pair of tokens</a:t>
            </a:r>
            <a:r>
              <a:rPr lang="en-US" dirty="0"/>
              <a:t> (bigrams) into one token.</a:t>
            </a:r>
          </a:p>
          <a:p>
            <a:pPr lvl="1"/>
            <a:r>
              <a:rPr lang="en-US" dirty="0"/>
              <a:t>Builds a vocabulary of </a:t>
            </a:r>
            <a:r>
              <a:rPr lang="en-US" dirty="0" err="1"/>
              <a:t>subwords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 err="1"/>
              <a:t>yaml</a:t>
            </a:r>
            <a:endParaRPr lang="en-US" dirty="0"/>
          </a:p>
          <a:p>
            <a:r>
              <a:rPr lang="en-US" dirty="0" err="1"/>
              <a:t>CopyEdit</a:t>
            </a:r>
            <a:endParaRPr lang="en-US" dirty="0"/>
          </a:p>
          <a:p>
            <a:r>
              <a:rPr lang="en-US" dirty="0"/>
              <a:t>Text: "lower" Initial tokens: [l, o, w, e, r] After merges: [low, </a:t>
            </a:r>
            <a:r>
              <a:rPr lang="en-US" dirty="0" err="1"/>
              <a:t>er</a:t>
            </a:r>
            <a:r>
              <a:rPr lang="en-US" dirty="0"/>
              <a:t>] </a:t>
            </a:r>
          </a:p>
          <a:p>
            <a:r>
              <a:rPr lang="en-US" b="1" dirty="0"/>
              <a:t>Pros:</a:t>
            </a:r>
            <a:endParaRPr lang="en-US" dirty="0"/>
          </a:p>
          <a:p>
            <a:pPr lvl="1"/>
            <a:r>
              <a:rPr lang="en-US" dirty="0"/>
              <a:t>Handles rare words well by breaking them into known </a:t>
            </a:r>
            <a:r>
              <a:rPr lang="en-US" dirty="0" err="1"/>
              <a:t>subwords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Efficient and compact vocabulary.</a:t>
            </a:r>
          </a:p>
          <a:p>
            <a:r>
              <a:rPr lang="en-US" b="1" dirty="0" err="1"/>
              <a:t>Embeddings</a:t>
            </a:r>
            <a:r>
              <a:rPr lang="en-US" b="1" dirty="0"/>
              <a:t>:</a:t>
            </a:r>
            <a:r>
              <a:rPr lang="en-US" dirty="0"/>
              <a:t> One vector per BPE token.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86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WordPiece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Used by:</a:t>
            </a:r>
            <a:r>
              <a:rPr lang="en-US" dirty="0"/>
              <a:t> BERT</a:t>
            </a:r>
          </a:p>
          <a:p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Similar to BPE, but uses a likelihood-based criterion for merging.</a:t>
            </a:r>
          </a:p>
          <a:p>
            <a:r>
              <a:rPr lang="en-US" dirty="0"/>
              <a:t>Splits unknown words into known </a:t>
            </a:r>
            <a:r>
              <a:rPr lang="en-US" dirty="0" err="1"/>
              <a:t>subwords</a:t>
            </a:r>
            <a:r>
              <a:rPr lang="en-US" dirty="0"/>
              <a:t> or characters with ## prefix.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 err="1"/>
              <a:t>arduino</a:t>
            </a:r>
            <a:endParaRPr lang="en-US" dirty="0"/>
          </a:p>
          <a:p>
            <a:r>
              <a:rPr lang="en-US" dirty="0" err="1"/>
              <a:t>CopyEdit</a:t>
            </a:r>
            <a:endParaRPr lang="en-US" dirty="0"/>
          </a:p>
          <a:p>
            <a:r>
              <a:rPr lang="en-US" dirty="0"/>
              <a:t>"unhappiness" → [un, ##</a:t>
            </a:r>
            <a:r>
              <a:rPr lang="en-US" dirty="0" err="1"/>
              <a:t>happi</a:t>
            </a:r>
            <a:r>
              <a:rPr lang="en-US" dirty="0"/>
              <a:t>, ##ness] </a:t>
            </a:r>
          </a:p>
          <a:p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Good for understanding word morphology.</a:t>
            </a:r>
          </a:p>
          <a:p>
            <a:r>
              <a:rPr lang="en-US" dirty="0"/>
              <a:t>Prevents OOV (out-of-vocabulary) issues.</a:t>
            </a:r>
          </a:p>
          <a:p>
            <a:r>
              <a:rPr lang="en-US" b="1" dirty="0" err="1"/>
              <a:t>Embeddings</a:t>
            </a:r>
            <a:r>
              <a:rPr lang="en-US" b="1" dirty="0"/>
              <a:t>:</a:t>
            </a:r>
            <a:r>
              <a:rPr lang="en-US" dirty="0"/>
              <a:t> One vector per </a:t>
            </a:r>
            <a:r>
              <a:rPr lang="en-US" dirty="0" err="1"/>
              <a:t>subword</a:t>
            </a:r>
            <a:r>
              <a:rPr lang="en-US" dirty="0"/>
              <a:t>, including prefixes like ##.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7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SentencePiece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Used by:</a:t>
            </a:r>
            <a:r>
              <a:rPr lang="en-US" dirty="0"/>
              <a:t> T5, ALBERT, </a:t>
            </a:r>
            <a:r>
              <a:rPr lang="en-US" dirty="0" err="1"/>
              <a:t>XLNet</a:t>
            </a:r>
            <a:endParaRPr lang="en-US" dirty="0"/>
          </a:p>
          <a:p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dirty="0"/>
              <a:t>Learns </a:t>
            </a:r>
            <a:r>
              <a:rPr lang="en-US" dirty="0" err="1"/>
              <a:t>subword</a:t>
            </a:r>
            <a:r>
              <a:rPr lang="en-US" dirty="0"/>
              <a:t> units without needing pre-tokenized input.</a:t>
            </a:r>
          </a:p>
          <a:p>
            <a:pPr lvl="1"/>
            <a:r>
              <a:rPr lang="en-US" dirty="0"/>
              <a:t>Treats input as a raw byte stream, allowing it to work with any language.</a:t>
            </a:r>
          </a:p>
          <a:p>
            <a:pPr lvl="1"/>
            <a:r>
              <a:rPr lang="en-US" dirty="0"/>
              <a:t>Can use BPE or Unigram Language Model internally.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 err="1"/>
              <a:t>scss</a:t>
            </a:r>
            <a:endParaRPr lang="en-US" dirty="0"/>
          </a:p>
          <a:p>
            <a:r>
              <a:rPr lang="en-US" dirty="0" err="1"/>
              <a:t>CopyEdit</a:t>
            </a:r>
            <a:endParaRPr lang="en-US" dirty="0"/>
          </a:p>
          <a:p>
            <a:r>
              <a:rPr lang="en-US" dirty="0"/>
              <a:t>"Hello world" → ['▁Hello', '▁world'] (▁ indicates space) </a:t>
            </a:r>
          </a:p>
          <a:p>
            <a:r>
              <a:rPr lang="en-US" b="1" dirty="0"/>
              <a:t>Pros:</a:t>
            </a:r>
            <a:endParaRPr lang="en-US" dirty="0"/>
          </a:p>
          <a:p>
            <a:pPr lvl="1"/>
            <a:r>
              <a:rPr lang="en-US" dirty="0"/>
              <a:t>Handles multilingual data better.</a:t>
            </a:r>
          </a:p>
          <a:p>
            <a:pPr lvl="1"/>
            <a:r>
              <a:rPr lang="en-US" dirty="0"/>
              <a:t>Robust to whitespace and punctuation variation.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05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1661</Words>
  <Application>Microsoft Office PowerPoint</Application>
  <PresentationFormat>Custom</PresentationFormat>
  <Paragraphs>250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What is an LLM?</vt:lpstr>
      <vt:lpstr>Introduction to LLMs </vt:lpstr>
      <vt:lpstr>LLM Architecture </vt:lpstr>
      <vt:lpstr>LLM Variants - BERT and DistilBERT </vt:lpstr>
      <vt:lpstr>LLM Variants - GPT and Mistral </vt:lpstr>
      <vt:lpstr>PowerPoint Presentation</vt:lpstr>
      <vt:lpstr>What happens when you type a prompt?</vt:lpstr>
      <vt:lpstr>What is a Token?</vt:lpstr>
      <vt:lpstr>PowerPoint Presentation</vt:lpstr>
      <vt:lpstr>Word-Based Tokenization </vt:lpstr>
      <vt:lpstr> Subword Tokenization (e.g., Byte-Pair Encoding – BPE) </vt:lpstr>
      <vt:lpstr>Why subwords?</vt:lpstr>
      <vt:lpstr>Character-Based Tokenization </vt:lpstr>
      <vt:lpstr>Tokenization Techniques</vt:lpstr>
      <vt:lpstr>Differences Table: </vt:lpstr>
      <vt:lpstr>Embeddings: From Words to Vectors </vt:lpstr>
      <vt:lpstr>PowerPoint Presentation</vt:lpstr>
      <vt:lpstr>Embeddings: From Words to Vectors </vt:lpstr>
      <vt:lpstr>What has the model “learned”?</vt:lpstr>
      <vt:lpstr>The Model's "Brain" – Parameters and Processing </vt:lpstr>
      <vt:lpstr>PowerPoint Presentation</vt:lpstr>
      <vt:lpstr>Attention Mechanisms and Transformers </vt:lpstr>
      <vt:lpstr>How It Works: </vt:lpstr>
      <vt:lpstr>Transformer Architecture - The LLM Backbone </vt:lpstr>
      <vt:lpstr>Self-Attention &amp; Multi-Head Attention - Deep Dive </vt:lpstr>
      <vt:lpstr>Full Architecture: </vt:lpstr>
      <vt:lpstr>Transformer Architecture (Simplified) </vt:lpstr>
      <vt:lpstr>Tokens &amp; Context Window</vt:lpstr>
      <vt:lpstr>Full Pipeline Example – From Prompt to Answer </vt:lpstr>
      <vt:lpstr>Quick Probability Example</vt:lpstr>
      <vt:lpstr>Why do LLMs sometimes hallucinate?</vt:lpstr>
      <vt:lpstr>Popular Tokenization Techniques</vt:lpstr>
      <vt:lpstr>WordPiece</vt:lpstr>
      <vt:lpstr>SentencePiece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an LLM?</dc:title>
  <dc:creator>Pavan GS</dc:creator>
  <cp:lastModifiedBy>admin</cp:lastModifiedBy>
  <cp:revision>16</cp:revision>
  <dcterms:created xsi:type="dcterms:W3CDTF">2025-11-06T18:59:15Z</dcterms:created>
  <dcterms:modified xsi:type="dcterms:W3CDTF">2026-02-26T08:56:52Z</dcterms:modified>
</cp:coreProperties>
</file>